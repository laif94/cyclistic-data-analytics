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Petrona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1IhoodmDtvT/6i3BkMlDAEkYY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etrona-bold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etron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g3f46c10ad72_0_4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f46c10ad72_0_4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g3f46c10ad72_0_4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 (g3f46c10ad72_74_0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">
  <p:cSld name="Slide master 1 (g3f46c10ad72_67_0)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">
  <p:cSld name="Slide master 1 (g3f46c10ad72_60_0)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 1">
  <p:cSld name="Slide master 1 (g3f46c10ad72_53_0)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 1 1">
  <p:cSld name="Slide master 1 (g3f46c10ad72_46_0)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 1 1 1">
  <p:cSld name="Slide master 1 (g3f46c10ad72_39_0)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 1 1 1 1">
  <p:cSld name="Slide master 1 (g3f46c10ad72_29_0)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 1 1 1 1 1">
  <p:cSld name="Slide master 1 (g3f46c10ad72_22_0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 1 1 1 1 1 1">
  <p:cSld name="Slide master 1 (g3f46c10ad72_12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2.jp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7.jp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8.jpg"/><Relationship Id="rId5" Type="http://schemas.openxmlformats.org/officeDocument/2006/relationships/image" Target="../media/image17.png"/><Relationship Id="rId6" Type="http://schemas.openxmlformats.org/officeDocument/2006/relationships/hyperlink" Target="https://github.com/laif94/cyclistic-data-analytics" TargetMode="External"/><Relationship Id="rId7" Type="http://schemas.openxmlformats.org/officeDocument/2006/relationships/hyperlink" Target="https://public.tableau.com/views/CyclisticCaseAnalysis/Dashboard2" TargetMode="External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9.jp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6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496119" y="1586061"/>
            <a:ext cx="4722763" cy="93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Cyclistic: Análisis de Bike-Share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96119" y="2728987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Case Study 1 — Cómo navegar el éxito acelerado de un servicio de bicicletas compartidas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96119" y="3342084"/>
            <a:ext cx="1673498" cy="215354"/>
          </a:xfrm>
          <a:prstGeom prst="roundRect">
            <a:avLst>
              <a:gd fmla="val 22119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581174" y="3384575"/>
            <a:ext cx="1960587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AUTOR: LEOPOLDO IBARRA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2240459" y="3342084"/>
            <a:ext cx="986210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2325514" y="3384575"/>
            <a:ext cx="1273299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JUN–JUL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3297510" y="3342084"/>
            <a:ext cx="1358503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3382566" y="3384575"/>
            <a:ext cx="1645593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ESTADO: FINALIZADO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3925119" y="609749"/>
            <a:ext cx="47229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Fase ASK: Problema de Negocio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1752674"/>
            <a:ext cx="4722761" cy="13196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4162127" y="1913483"/>
            <a:ext cx="4324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Objetivo Principal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162127" y="2231082"/>
            <a:ext cx="4324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Identificar y analizar cómo difiere el comportamiento de uso entre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usuarios casuales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miembros anuales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durante los últimos 12 meses.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3214092"/>
            <a:ext cx="4722761" cy="131965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4162127" y="3374901"/>
            <a:ext cx="4324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Meta Estratégica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162127" y="3692500"/>
            <a:ext cx="4324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Proporcionar insights para que marketing diseñe una estrategia de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conversión de usuarios casuales a membresías anuales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maximizando la rentabilidad a largo plazo.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96119" y="403547"/>
            <a:ext cx="81519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Petrona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Stakeholders y Preguntas de Investigación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96119" y="1204838"/>
            <a:ext cx="3905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Matriz de Stakeholders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96119" y="1588219"/>
            <a:ext cx="1884300" cy="1762200"/>
          </a:xfrm>
          <a:prstGeom prst="roundRect">
            <a:avLst>
              <a:gd fmla="val 3326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40407" y="1732508"/>
            <a:ext cx="1595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Lily Moreno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407" y="2098774"/>
            <a:ext cx="15957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Director de Marketing. Requiere conclusiones claras y recomendaciones accionables.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517651" y="1588219"/>
            <a:ext cx="1884300" cy="1762200"/>
          </a:xfrm>
          <a:prstGeom prst="roundRect">
            <a:avLst>
              <a:gd fmla="val 3326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661940" y="1732508"/>
            <a:ext cx="1595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Analytics 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661940" y="2098774"/>
            <a:ext cx="1595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Analistas pares. Requieren metodologías replicables y código limpio.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96119" y="3487713"/>
            <a:ext cx="3905700" cy="1097700"/>
          </a:xfrm>
          <a:prstGeom prst="roundRect">
            <a:avLst>
              <a:gd fmla="val 533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40407" y="3632002"/>
            <a:ext cx="36171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Executive 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407" y="3998268"/>
            <a:ext cx="361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Toma de decisiones. Requieren visualizaciones profesionales y rigor estadístico.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46947" y="1204838"/>
            <a:ext cx="3905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Preguntas Guía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46947" y="1571104"/>
            <a:ext cx="3905700" cy="16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¿Cómo difiere el uso de bicicletas entre casuales y miembros?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¿Cuál es la diferencia en duración promedio de viajes?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¿Cómo varía la demanda por día de la semana y estación?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¿Cuáles son las estaciones más recurrentes por segmento?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96119" y="420960"/>
            <a:ext cx="81519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Fase PREPARE: Gobierno de Datos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337146"/>
            <a:ext cx="5205936" cy="294999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5971580" y="984796"/>
            <a:ext cx="2681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Framework ROCCC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284" y="1259570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6324228" y="1256258"/>
            <a:ext cx="232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Confiable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324228" y="1517303"/>
            <a:ext cx="2328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Datos operativos del sistema de tracking de bicicletas.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284" y="1993367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6324228" y="1990055"/>
            <a:ext cx="232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324228" y="2251100"/>
            <a:ext cx="2328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Primera fuente: proveedor público de Chicago (Motivate International Inc.).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284" y="2727164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6324228" y="2723852"/>
            <a:ext cx="232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Integral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324228" y="2984897"/>
            <a:ext cx="2328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Variables clave: timestamps, estaciones, tipo de bicicleta y usuario.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284" y="3460961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6324228" y="3457649"/>
            <a:ext cx="232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324228" y="3718694"/>
            <a:ext cx="23283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Julio 2025 – Junio 2026.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71580" y="3965451"/>
            <a:ext cx="2681100" cy="663600"/>
          </a:xfrm>
          <a:prstGeom prst="roundRect">
            <a:avLst>
              <a:gd fmla="val 686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0075" y="4120381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6324228" y="4067324"/>
            <a:ext cx="22197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Restricción crítica: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Los datasets omiten PII. No es posible trazar viajes al mismo usuario único ni determinar residencia.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96119" y="389855"/>
            <a:ext cx="81519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Fase PROCESS: Pipeline de Limpieza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2407" y="693241"/>
            <a:ext cx="6339183" cy="290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6256361" y="2899808"/>
            <a:ext cx="11901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Resultado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56456" y="2899808"/>
            <a:ext cx="11901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Filtrado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64702" y="2899808"/>
            <a:ext cx="11901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Cálculo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740341" y="2899808"/>
            <a:ext cx="11901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Unificación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96119" y="3634308"/>
            <a:ext cx="86091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rPr b="0" i="0" lang="en-US" sz="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Stack tecnológico: Google Drive para almacenamiento; SQL (BigQuery/PostgreSQL) y Python (Pandas) para ETL, dado el volumen de más de 5 millones de registros.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96119" y="3794596"/>
            <a:ext cx="4053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5.8M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96119" y="4090467"/>
            <a:ext cx="40536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Petrona"/>
              <a:buNone/>
            </a:pPr>
            <a:r>
              <a:rPr b="1" i="0" lang="en-US" sz="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Registros iniciales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94101" y="3794596"/>
            <a:ext cx="40539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3.8M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94101" y="4090467"/>
            <a:ext cx="40539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Petrona"/>
              <a:buNone/>
            </a:pPr>
            <a:r>
              <a:rPr b="1" i="0" lang="en-US" sz="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Registros limpios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96119" y="4312965"/>
            <a:ext cx="4053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96119" y="4608835"/>
            <a:ext cx="40536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Petrona"/>
              <a:buNone/>
            </a:pPr>
            <a:r>
              <a:rPr b="1" i="0" lang="en-US" sz="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Eliminados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96119" y="4746278"/>
            <a:ext cx="40536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rPr b="0" i="0" lang="en-US" sz="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2,008,851 filas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94101" y="4312965"/>
            <a:ext cx="40539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66%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94101" y="4608835"/>
            <a:ext cx="40539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Petrona"/>
              <a:buNone/>
            </a:pPr>
            <a:r>
              <a:rPr b="1" i="0" lang="en-US" sz="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Tasa de limpieza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96119" y="668685"/>
            <a:ext cx="8151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Fase ANALYZE: Duración de Viajes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505917"/>
            <a:ext cx="3902942" cy="280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4749701" y="1488207"/>
            <a:ext cx="3903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Hallazgo Clave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49701" y="1862510"/>
            <a:ext cx="39030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usuarios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casuales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promedian </a:t>
            </a:r>
            <a:r>
              <a:rPr b="1" i="0" lang="en-US" sz="110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22,15 minutos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por viaje — un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56,84% más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que los miembros (12,59 min).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Interpretación: los casuales usan el servicio para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paseos recreativos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mientras que los miembros lo usan para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trayectos fijos y recurrentes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749701" y="3251671"/>
            <a:ext cx="39030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Casuales: 1.360.623 viajes (35,43% del total)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Miembros: 2.479.229 viajes (64,57% del total)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96119" y="668685"/>
            <a:ext cx="8151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Análisis por Día de la Semana y Estacionalidad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505917"/>
            <a:ext cx="3902942" cy="280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4749701" y="1488207"/>
            <a:ext cx="3903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Patrones Observados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49701" y="1862510"/>
            <a:ext cx="3903000" cy="14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Casuales: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Picos en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sábados y domingos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 duración promedio mayor (25,58 y 24,95 min). Concentración de mayo a octubre.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Miembros: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Distribución uniforme toda la semana, con duración estable (~12 min/día). Activos todo el año, solo reducen en enero y diciembre.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749701" y="3432423"/>
            <a:ext cx="3903000" cy="779700"/>
          </a:xfrm>
          <a:prstGeom prst="roundRect">
            <a:avLst>
              <a:gd fmla="val 7638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1460" y="364748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5210398" y="3595390"/>
            <a:ext cx="3300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casuales confirman comportamiento recreativo; los miembros, uso utilitario constante.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96119" y="722114"/>
            <a:ext cx="8151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Fase SHARE: Visualizaciones Clave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0003" y="1470794"/>
            <a:ext cx="1871366" cy="11565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496119" y="2804517"/>
            <a:ext cx="25992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Gráfico 1: Volumen vs. Tiempo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96119" y="3122116"/>
            <a:ext cx="25992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Líneas agrupadas por mes para identificar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patrones estacionales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entre miembros y casuales.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6318" y="1470794"/>
            <a:ext cx="1871366" cy="11565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3272433" y="2804517"/>
            <a:ext cx="2599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Gráfico 2: Distribución Semanal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272433" y="3354660"/>
            <a:ext cx="25992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Barras lado a lado mostrando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viajes por día de la semana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por segmento de usuario.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048747" y="2804517"/>
            <a:ext cx="25992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Gráfico 3: Duración del Viaje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048747" y="3122116"/>
            <a:ext cx="25992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Boxplot comparando 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minutos promedio por viaje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según tipo de usuario.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96119" y="4194572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Entregables: </a:t>
            </a:r>
            <a:r>
              <a:rPr b="1" i="0" lang="en-US" sz="1100" u="sng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Repositorio GitHub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1" i="0" lang="en-US" sz="1100" u="sng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Tablero Tableau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0625" y="1674388"/>
            <a:ext cx="3135376" cy="7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3925119" y="419026"/>
            <a:ext cx="4722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etrona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Fase ACT: Estrategias de Marketing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1478012"/>
            <a:ext cx="4722762" cy="999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/>
          <p:nvPr/>
        </p:nvSpPr>
        <p:spPr>
          <a:xfrm>
            <a:off x="4103117" y="1852985"/>
            <a:ext cx="199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Petrona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95589" y="1625203"/>
            <a:ext cx="3905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Petrona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Activación en Hotspots Recreativos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95589" y="1917948"/>
            <a:ext cx="3905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Campañas en </a:t>
            </a: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Navy Pier</a:t>
            </a: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DuSable Lake Shore Dr</a:t>
            </a: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 códigos QR en tótems para captar casuales en tiempo real.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601664"/>
            <a:ext cx="4722762" cy="999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4103117" y="2976637"/>
            <a:ext cx="199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Petrona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595589" y="2748855"/>
            <a:ext cx="3905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Petrona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Estrategia "Fin de Semana Recreativo"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95589" y="3041600"/>
            <a:ext cx="3905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Pases para trayectos extensos en </a:t>
            </a: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sábados y domingos</a:t>
            </a: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Control preventivo de flota en zonas turísticas.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3725317"/>
            <a:ext cx="4722762" cy="999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4103117" y="4100289"/>
            <a:ext cx="199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Petrona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95589" y="3872508"/>
            <a:ext cx="3905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Petrona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Flexibilidad Estacional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95589" y="4165253"/>
            <a:ext cx="3905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Pase de Verano</a:t>
            </a: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(mayo–octubre) para eliminar la barrera del contrato anual y formalizar ingresos del segmento casual.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96119" y="538460"/>
            <a:ext cx="8151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Próximos Pasos e Investigación Futura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350615"/>
            <a:ext cx="5202138" cy="294783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5978649" y="1134070"/>
            <a:ext cx="26739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Petrona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Mejoras Recomendadas para el Dataset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978649" y="1420639"/>
            <a:ext cx="254100" cy="2541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322740" y="1459409"/>
            <a:ext cx="2329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Petrona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Información Demográfica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322740" y="1734741"/>
            <a:ext cx="2329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Integrar datos de edad y grupo etario para segmentación más precisa.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978649" y="2239491"/>
            <a:ext cx="254100" cy="2541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322740" y="2278261"/>
            <a:ext cx="2329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Petrona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Métodos de Pago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322740" y="2553593"/>
            <a:ext cx="2329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Analizar correlación entre forma de pago y tipo de usuario.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978649" y="3058344"/>
            <a:ext cx="254100" cy="2541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322740" y="3097113"/>
            <a:ext cx="2329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Petrona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Valor de los Planes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322740" y="3372445"/>
            <a:ext cx="2329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Incorporar datos de precios para análisis costo-beneficio implícito.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978649" y="3798391"/>
            <a:ext cx="2673900" cy="705300"/>
          </a:xfrm>
          <a:prstGeom prst="roundRect">
            <a:avLst>
              <a:gd fmla="val 6726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1610" y="3959721"/>
            <a:ext cx="141163" cy="11296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6345734" y="3907557"/>
            <a:ext cx="219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Estas mejoras permitirán robustecer el análisis y profundizar en la estrategia de conversión.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EB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EB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EB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2026-07-09T07:18:04Z</dcterms:created>
</cp:coreProperties>
</file>